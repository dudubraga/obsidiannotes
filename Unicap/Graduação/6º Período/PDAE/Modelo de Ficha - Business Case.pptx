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2F3DE-4807-49A8-8E9C-CCAFEE23F4FE}" v="3" dt="2025-08-29T01:20:55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40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ROI</a:t>
            </a:r>
            <a:r>
              <a:rPr lang="pt-BR" baseline="0" dirty="0"/>
              <a:t> Estimado</a:t>
            </a:r>
            <a:endParaRPr lang="pt-B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Sheet1!$A$2:$A$8</c:f>
              <c:numCache>
                <c:formatCode>d\-mmm</c:formatCode>
                <c:ptCount val="7"/>
                <c:pt idx="0">
                  <c:v>45809</c:v>
                </c:pt>
                <c:pt idx="1">
                  <c:v>45839</c:v>
                </c:pt>
                <c:pt idx="2">
                  <c:v>45870</c:v>
                </c:pt>
                <c:pt idx="3">
                  <c:v>45901</c:v>
                </c:pt>
                <c:pt idx="4">
                  <c:v>45931</c:v>
                </c:pt>
                <c:pt idx="5">
                  <c:v>45962</c:v>
                </c:pt>
                <c:pt idx="6">
                  <c:v>45992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50000</c:v>
                </c:pt>
                <c:pt idx="1">
                  <c:v>35000</c:v>
                </c:pt>
                <c:pt idx="2">
                  <c:v>21000</c:v>
                </c:pt>
                <c:pt idx="3">
                  <c:v>5000</c:v>
                </c:pt>
                <c:pt idx="4">
                  <c:v>5000</c:v>
                </c:pt>
                <c:pt idx="5">
                  <c:v>5000</c:v>
                </c:pt>
                <c:pt idx="6">
                  <c:v>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FF-4CB1-8595-1CBBA36105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Retorno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Sheet1!$A$2:$A$8</c:f>
              <c:numCache>
                <c:formatCode>d\-mmm</c:formatCode>
                <c:ptCount val="7"/>
                <c:pt idx="0">
                  <c:v>45809</c:v>
                </c:pt>
                <c:pt idx="1">
                  <c:v>45839</c:v>
                </c:pt>
                <c:pt idx="2">
                  <c:v>45870</c:v>
                </c:pt>
                <c:pt idx="3">
                  <c:v>45901</c:v>
                </c:pt>
                <c:pt idx="4">
                  <c:v>45931</c:v>
                </c:pt>
                <c:pt idx="5">
                  <c:v>45962</c:v>
                </c:pt>
                <c:pt idx="6">
                  <c:v>45992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15000</c:v>
                </c:pt>
                <c:pt idx="4">
                  <c:v>30000</c:v>
                </c:pt>
                <c:pt idx="5">
                  <c:v>45000</c:v>
                </c:pt>
                <c:pt idx="6">
                  <c:v>60000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FF-4CB1-8595-1CBBA36105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40451040"/>
        <c:axId val="1340452960"/>
      </c:lineChart>
      <c:dateAx>
        <c:axId val="1340451040"/>
        <c:scaling>
          <c:orientation val="minMax"/>
        </c:scaling>
        <c:delete val="0"/>
        <c:axPos val="b"/>
        <c:numFmt formatCode="d\-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40452960"/>
        <c:crosses val="autoZero"/>
        <c:auto val="1"/>
        <c:lblOffset val="100"/>
        <c:baseTimeUnit val="months"/>
      </c:dateAx>
      <c:valAx>
        <c:axId val="134045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$&quot;\ #,##0.00" sourceLinked="0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40451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E3C0-6748-A163-B97B-EA9385DD0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786B-0BEF-1677-369E-C4D5A3F95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72B29-098F-649C-70E4-D118326A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B6033-3A98-2678-1EC5-48E8C45D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0D74A-1A6A-E99B-B621-566DD9C50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3377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73FF9-D944-74F0-DD7B-9EB95D53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7DE66-44FB-F5E6-FD03-0932A8137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BB37-0C94-4253-26D1-257A600C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C622B-75A7-F90E-107C-984FD050B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B436-8B8D-8450-7F6F-D55F34E4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735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6EF2-BC86-E7A5-7000-B47FB1F4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31D56-FADD-FB9C-A65E-7AB369D27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9DBB0-A981-83DF-0275-EE8F3BBBC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49C54-34B1-8248-D7B5-0AE454AC9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6A137-D7F3-242F-6180-FF4F23D2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7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B3CF-DFBB-AD92-AB10-0FA64C9B2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B7741-1B88-F38E-75C3-071254B67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3B666-D21D-1A86-59F6-36553C863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4957F-3676-8D72-F807-84CDEBED8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2AFE1-1C8D-C16F-8446-612C996DB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F6DEF-77ED-2938-1AD9-174BB286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866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78E3-3E0C-DEA4-313A-D145311FF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CECEA-464B-8F58-4642-26030ACA6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5CC97-1C85-5EF0-E82D-02491EC2D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771953-9E1D-B5BC-6E0E-2CA02366C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1DD7A4-4EC9-E524-89CA-F3C018A94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4E9861-7210-8FDC-0BAE-466A2CBD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5F577D-077A-BDBD-5330-0E5DC688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5E6899-6E63-C5EF-6C6B-A1414092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42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A91B-8575-59F1-8DE8-50E6DC48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E11F2-B6D3-574E-FBE6-B64A91334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0A4E7-D232-4324-5BA5-DB690C20D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0F223-5616-1B0C-CC93-518876E2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75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6FDC71-E61A-E938-4683-513E5E026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24EDBD-A419-4EEE-B330-D4F11E37B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6D984-FD1F-6958-B924-88F592F5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CE6E0-DF3E-0248-EB0A-AD8BCE308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4B794-148D-10DC-42BC-342C6AE85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C7714-85FC-5A15-39EF-1EAAD3F63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97A59-A378-6201-9997-098D02E2D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09723-683D-C579-6F7E-2BEAA1DF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ED769-D140-52E1-A0E1-DE7C1798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18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C7B0-9746-8AE2-3FD3-DF0E29F2B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4A576A-004B-7665-2FDA-A85BF21CE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C9710-BC31-C19D-5E3D-3CC84B2E1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2FC6E-9703-5755-477D-61078414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DDCE8-75BA-7DA5-3159-76D11373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E35CA-D282-6A94-C28E-81C93E10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188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C98D-B906-164B-6779-B98E8311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50147-D75C-62AF-D0C7-C20E52C50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ECB59-35D2-DA63-9B58-3290F872F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AC100-8891-92DC-D745-0F943FCD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F0071-D2BA-F1A8-AC42-015774F9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34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A5167-821E-827F-52A8-9FFAFE6F4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DDC3F-2877-CD9A-779D-5A110B52F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4CBA1-E552-3855-FCC4-9ABA85050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6C444-CFB6-988B-8A12-B5F3A5249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37732-A8D6-2906-54FC-BF75F06BF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996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EBC5F-665F-4290-AD97-9FFBEC205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8C2AC-8BCE-5BEF-5BB8-66BE9E875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B9103-EE48-21AC-77C1-78EE50B00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1B364-38AC-4442-88D6-86E700B92889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E4761-1167-D4FA-514F-561B4BD34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34BFD-3EB9-992A-2F42-7CA84F04A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46BD7-03E4-4099-98D4-0C2682EE08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15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42A5C9-CA37-49AA-4EC4-B763202A9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094D0D-6F64-1704-9DBA-9AC5CB4D0C2A}"/>
              </a:ext>
            </a:extLst>
          </p:cNvPr>
          <p:cNvSpPr/>
          <p:nvPr/>
        </p:nvSpPr>
        <p:spPr>
          <a:xfrm>
            <a:off x="429097" y="2865090"/>
            <a:ext cx="11174785" cy="2117584"/>
          </a:xfrm>
          <a:prstGeom prst="roundRect">
            <a:avLst>
              <a:gd name="adj" fmla="val 1471"/>
            </a:avLst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024EB5-0361-6438-611A-EFFA01190FA0}"/>
              </a:ext>
            </a:extLst>
          </p:cNvPr>
          <p:cNvSpPr/>
          <p:nvPr/>
        </p:nvSpPr>
        <p:spPr>
          <a:xfrm>
            <a:off x="1229549" y="115183"/>
            <a:ext cx="6297622" cy="3547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pt-BR" sz="16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Nome do processo – Grupo X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8208A7-9159-878D-9088-9587B9DE14EE}"/>
              </a:ext>
            </a:extLst>
          </p:cNvPr>
          <p:cNvSpPr/>
          <p:nvPr/>
        </p:nvSpPr>
        <p:spPr>
          <a:xfrm>
            <a:off x="429533" y="177373"/>
            <a:ext cx="805555" cy="21413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54C24"/>
              </a:gs>
              <a:gs pos="100000">
                <a:srgbClr val="C82027"/>
              </a:gs>
            </a:gsLst>
            <a:lin ang="10800000" scaled="1"/>
          </a:gradFill>
          <a:ln w="57150" cmpd="sng">
            <a:noFill/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OTC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EFF0BE-4B6B-2AB5-FF55-83E5F1EFF721}"/>
              </a:ext>
            </a:extLst>
          </p:cNvPr>
          <p:cNvSpPr/>
          <p:nvPr/>
        </p:nvSpPr>
        <p:spPr>
          <a:xfrm>
            <a:off x="9312761" y="524735"/>
            <a:ext cx="2296564" cy="407588"/>
          </a:xfrm>
          <a:prstGeom prst="roundRect">
            <a:avLst>
              <a:gd name="adj" fmla="val 1471"/>
            </a:avLst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251253-B3A1-7F89-5461-04E800B8DD99}"/>
              </a:ext>
            </a:extLst>
          </p:cNvPr>
          <p:cNvSpPr/>
          <p:nvPr/>
        </p:nvSpPr>
        <p:spPr>
          <a:xfrm>
            <a:off x="9312761" y="953802"/>
            <a:ext cx="2296564" cy="407588"/>
          </a:xfrm>
          <a:prstGeom prst="roundRect">
            <a:avLst>
              <a:gd name="adj" fmla="val 1471"/>
            </a:avLst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593E4A-882B-1FA5-0FE6-BAF7C31FFACC}"/>
              </a:ext>
            </a:extLst>
          </p:cNvPr>
          <p:cNvSpPr/>
          <p:nvPr/>
        </p:nvSpPr>
        <p:spPr>
          <a:xfrm>
            <a:off x="429533" y="5178481"/>
            <a:ext cx="11179791" cy="919959"/>
          </a:xfrm>
          <a:prstGeom prst="roundRect">
            <a:avLst>
              <a:gd name="adj" fmla="val 1471"/>
            </a:avLst>
          </a:prstGeom>
          <a:solidFill>
            <a:schemeClr val="bg1">
              <a:alpha val="88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8225FD-81A6-A0AB-1180-8CC72E967EDE}"/>
              </a:ext>
            </a:extLst>
          </p:cNvPr>
          <p:cNvSpPr/>
          <p:nvPr/>
        </p:nvSpPr>
        <p:spPr>
          <a:xfrm>
            <a:off x="434539" y="1435446"/>
            <a:ext cx="11174785" cy="1320535"/>
          </a:xfrm>
          <a:prstGeom prst="roundRect">
            <a:avLst>
              <a:gd name="adj" fmla="val 1471"/>
            </a:avLst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0564B2-B184-766D-CEE9-30C5284F02DF}"/>
              </a:ext>
            </a:extLst>
          </p:cNvPr>
          <p:cNvCxnSpPr>
            <a:cxnSpLocks/>
          </p:cNvCxnSpPr>
          <p:nvPr/>
        </p:nvCxnSpPr>
        <p:spPr>
          <a:xfrm>
            <a:off x="551957" y="3158183"/>
            <a:ext cx="3600000" cy="0"/>
          </a:xfrm>
          <a:prstGeom prst="line">
            <a:avLst/>
          </a:prstGeom>
          <a:ln w="57150" cmpd="sng">
            <a:gradFill flip="none" rotWithShape="1">
              <a:gsLst>
                <a:gs pos="0">
                  <a:srgbClr val="FCB019"/>
                </a:gs>
                <a:gs pos="100000">
                  <a:srgbClr val="C82027"/>
                </a:gs>
              </a:gsLst>
              <a:lin ang="10800000" scaled="1"/>
              <a:tileRect/>
            </a:gra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76E955E-B881-A70F-D13D-6B2DBF0056C7}"/>
              </a:ext>
            </a:extLst>
          </p:cNvPr>
          <p:cNvSpPr/>
          <p:nvPr/>
        </p:nvSpPr>
        <p:spPr>
          <a:xfrm>
            <a:off x="455452" y="1460858"/>
            <a:ext cx="1592089" cy="246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pt-BR" sz="1200" b="1">
                <a:solidFill>
                  <a:schemeClr val="tx1"/>
                </a:solidFill>
              </a:rPr>
              <a:t>Descrição: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4CE11-FAA7-622D-1358-9650DA2B7761}"/>
              </a:ext>
            </a:extLst>
          </p:cNvPr>
          <p:cNvSpPr/>
          <p:nvPr/>
        </p:nvSpPr>
        <p:spPr>
          <a:xfrm>
            <a:off x="4303553" y="2841708"/>
            <a:ext cx="2251466" cy="3651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spcCol="180000" rtlCol="0" anchor="t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Comentários Adicionais:</a:t>
            </a:r>
          </a:p>
          <a:p>
            <a:pPr lvl="0"/>
            <a:endParaRPr lang="pt-BR" sz="800" b="1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D9D2F6-0340-9C8A-6C05-5EAC658C2598}"/>
              </a:ext>
            </a:extLst>
          </p:cNvPr>
          <p:cNvSpPr/>
          <p:nvPr/>
        </p:nvSpPr>
        <p:spPr>
          <a:xfrm>
            <a:off x="455452" y="5262918"/>
            <a:ext cx="3600000" cy="263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pt-BR" sz="1200" b="1" dirty="0">
                <a:solidFill>
                  <a:schemeClr val="tx1"/>
                </a:solidFill>
              </a:rPr>
              <a:t>Principais Benefícios qualitativos: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EB9CFD-B448-524A-DA75-88209F86C15A}"/>
              </a:ext>
            </a:extLst>
          </p:cNvPr>
          <p:cNvSpPr/>
          <p:nvPr/>
        </p:nvSpPr>
        <p:spPr>
          <a:xfrm>
            <a:off x="455452" y="2841708"/>
            <a:ext cx="3780190" cy="4380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spcCol="180000" rtlCol="0" anchor="t"/>
          <a:lstStyle/>
          <a:p>
            <a:pPr lvl="0"/>
            <a:r>
              <a:rPr lang="pt-BR" sz="1200" b="1">
                <a:solidFill>
                  <a:schemeClr val="tx1"/>
                </a:solidFill>
              </a:rPr>
              <a:t>Tecnologias propostas:</a:t>
            </a:r>
            <a:endParaRPr lang="pt-BR" sz="700" b="1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0E210B-D5D0-47B1-EA28-01E733BE6C27}"/>
              </a:ext>
            </a:extLst>
          </p:cNvPr>
          <p:cNvSpPr/>
          <p:nvPr/>
        </p:nvSpPr>
        <p:spPr>
          <a:xfrm>
            <a:off x="6977960" y="524734"/>
            <a:ext cx="2296564" cy="823227"/>
          </a:xfrm>
          <a:prstGeom prst="roundRect">
            <a:avLst>
              <a:gd name="adj" fmla="val 1471"/>
            </a:avLst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6AA4E6-5321-FA4D-7F84-2D94521B77FD}"/>
              </a:ext>
            </a:extLst>
          </p:cNvPr>
          <p:cNvSpPr/>
          <p:nvPr/>
        </p:nvSpPr>
        <p:spPr>
          <a:xfrm>
            <a:off x="4608558" y="524734"/>
            <a:ext cx="2296564" cy="823227"/>
          </a:xfrm>
          <a:prstGeom prst="roundRect">
            <a:avLst>
              <a:gd name="adj" fmla="val 1471"/>
            </a:avLst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B3C44B9-B4D5-C61A-DA6B-390D00C89CF7}"/>
              </a:ext>
            </a:extLst>
          </p:cNvPr>
          <p:cNvSpPr/>
          <p:nvPr/>
        </p:nvSpPr>
        <p:spPr>
          <a:xfrm>
            <a:off x="431127" y="524734"/>
            <a:ext cx="4104593" cy="823227"/>
          </a:xfrm>
          <a:prstGeom prst="roundRect">
            <a:avLst>
              <a:gd name="adj" fmla="val 1471"/>
            </a:avLst>
          </a:prstGeom>
          <a:solidFill>
            <a:schemeClr val="bg1"/>
          </a:solidFill>
          <a:ln>
            <a:solidFill>
              <a:schemeClr val="tx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218DEE-54E9-E390-7511-CDE618BD1CA0}"/>
              </a:ext>
            </a:extLst>
          </p:cNvPr>
          <p:cNvSpPr/>
          <p:nvPr/>
        </p:nvSpPr>
        <p:spPr>
          <a:xfrm>
            <a:off x="10397020" y="626614"/>
            <a:ext cx="1062141" cy="288000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ctr"/>
          <a:lstStyle/>
          <a:p>
            <a:pPr algn="ctr"/>
            <a:endParaRPr lang="pt-BR" sz="1400" b="1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DB5F28-23A2-4950-E0A0-24D99F971FCF}"/>
              </a:ext>
            </a:extLst>
          </p:cNvPr>
          <p:cNvSpPr/>
          <p:nvPr/>
        </p:nvSpPr>
        <p:spPr>
          <a:xfrm>
            <a:off x="10397020" y="974465"/>
            <a:ext cx="1062141" cy="288000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ctr"/>
          <a:lstStyle/>
          <a:p>
            <a:pPr algn="ctr"/>
            <a:endParaRPr lang="pt-BR" sz="1400" b="1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E135D8-57AA-BB5A-96C8-CA850142FA6F}"/>
              </a:ext>
            </a:extLst>
          </p:cNvPr>
          <p:cNvSpPr/>
          <p:nvPr/>
        </p:nvSpPr>
        <p:spPr>
          <a:xfrm>
            <a:off x="860643" y="951400"/>
            <a:ext cx="96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ctr"/>
          <a:lstStyle/>
          <a:p>
            <a:r>
              <a:rPr lang="pt-BR" sz="1200">
                <a:solidFill>
                  <a:schemeClr val="tx1"/>
                </a:solidFill>
              </a:rPr>
              <a:t>Automação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FFF7CF-D3DD-BE10-1947-93719C1CF60E}"/>
              </a:ext>
            </a:extLst>
          </p:cNvPr>
          <p:cNvSpPr/>
          <p:nvPr/>
        </p:nvSpPr>
        <p:spPr>
          <a:xfrm>
            <a:off x="2292310" y="951400"/>
            <a:ext cx="96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ctr"/>
          <a:lstStyle/>
          <a:p>
            <a:r>
              <a:rPr lang="pt-BR" sz="1200" dirty="0">
                <a:solidFill>
                  <a:schemeClr val="tx1"/>
                </a:solidFill>
              </a:rPr>
              <a:t>Processo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618ADF-2909-053B-36A1-5AC05A8356E6}"/>
              </a:ext>
            </a:extLst>
          </p:cNvPr>
          <p:cNvSpPr/>
          <p:nvPr/>
        </p:nvSpPr>
        <p:spPr>
          <a:xfrm>
            <a:off x="3418360" y="951400"/>
            <a:ext cx="96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ctr"/>
          <a:lstStyle/>
          <a:p>
            <a:r>
              <a:rPr lang="pt-BR" sz="1200" dirty="0">
                <a:solidFill>
                  <a:schemeClr val="tx1"/>
                </a:solidFill>
              </a:rPr>
              <a:t>Governança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AF94EE-1174-FDAF-BA95-2E810AF01FB7}"/>
              </a:ext>
            </a:extLst>
          </p:cNvPr>
          <p:cNvSpPr/>
          <p:nvPr/>
        </p:nvSpPr>
        <p:spPr>
          <a:xfrm>
            <a:off x="5506050" y="951400"/>
            <a:ext cx="36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ctr"/>
          <a:lstStyle/>
          <a:p>
            <a:pPr algn="ctr"/>
            <a:r>
              <a:rPr lang="pt-BR" sz="120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2F1FFC-D13E-941A-48FA-B400A5C439F0}"/>
              </a:ext>
            </a:extLst>
          </p:cNvPr>
          <p:cNvSpPr/>
          <p:nvPr/>
        </p:nvSpPr>
        <p:spPr>
          <a:xfrm>
            <a:off x="6064775" y="951400"/>
            <a:ext cx="36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ctr"/>
          <a:lstStyle/>
          <a:p>
            <a:pPr algn="ctr"/>
            <a:r>
              <a:rPr lang="pt-BR" sz="120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3083FD-0836-8B97-057C-67CE76F55C44}"/>
              </a:ext>
            </a:extLst>
          </p:cNvPr>
          <p:cNvSpPr/>
          <p:nvPr/>
        </p:nvSpPr>
        <p:spPr>
          <a:xfrm>
            <a:off x="6607200" y="951400"/>
            <a:ext cx="36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ctr"/>
          <a:lstStyle/>
          <a:p>
            <a:pPr algn="ctr"/>
            <a:r>
              <a:rPr lang="pt-BR" sz="120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BD55C0-FC04-989D-EBA4-57EBAF030226}"/>
              </a:ext>
            </a:extLst>
          </p:cNvPr>
          <p:cNvSpPr/>
          <p:nvPr/>
        </p:nvSpPr>
        <p:spPr>
          <a:xfrm>
            <a:off x="476058" y="531186"/>
            <a:ext cx="2201765" cy="246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pt-BR" sz="1200" b="1">
                <a:solidFill>
                  <a:schemeClr val="tx1"/>
                </a:solidFill>
              </a:rPr>
              <a:t>Solução Proposta: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AFD272-A9C9-A418-CEF3-47304A264B99}"/>
              </a:ext>
            </a:extLst>
          </p:cNvPr>
          <p:cNvSpPr/>
          <p:nvPr/>
        </p:nvSpPr>
        <p:spPr>
          <a:xfrm>
            <a:off x="4620048" y="531186"/>
            <a:ext cx="2201765" cy="246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pt-BR" sz="1200" b="1">
                <a:solidFill>
                  <a:schemeClr val="tx1"/>
                </a:solidFill>
              </a:rPr>
              <a:t>Complexidade: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B42117-0AA3-981C-2F09-A4C7B45EDF55}"/>
              </a:ext>
            </a:extLst>
          </p:cNvPr>
          <p:cNvSpPr/>
          <p:nvPr/>
        </p:nvSpPr>
        <p:spPr>
          <a:xfrm>
            <a:off x="7011794" y="531186"/>
            <a:ext cx="2201765" cy="246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pt-BR" sz="1200" b="1">
                <a:solidFill>
                  <a:schemeClr val="tx1"/>
                </a:solidFill>
              </a:rPr>
              <a:t>Benefício/Ano: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5BBEEE-765B-3A0A-555C-E58DD880D07E}"/>
              </a:ext>
            </a:extLst>
          </p:cNvPr>
          <p:cNvSpPr/>
          <p:nvPr/>
        </p:nvSpPr>
        <p:spPr>
          <a:xfrm>
            <a:off x="9066041" y="573934"/>
            <a:ext cx="1062141" cy="246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r"/>
            <a:r>
              <a:rPr lang="pt-BR" sz="1200" b="1">
                <a:solidFill>
                  <a:schemeClr val="tx1"/>
                </a:solidFill>
              </a:rPr>
              <a:t>Esforço: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895255-512F-F340-22D9-842F6C7C0D1D}"/>
              </a:ext>
            </a:extLst>
          </p:cNvPr>
          <p:cNvSpPr/>
          <p:nvPr/>
        </p:nvSpPr>
        <p:spPr>
          <a:xfrm>
            <a:off x="9359576" y="1017819"/>
            <a:ext cx="679758" cy="246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r"/>
            <a:r>
              <a:rPr lang="pt-BR" sz="1200" b="1">
                <a:solidFill>
                  <a:schemeClr val="tx1"/>
                </a:solidFill>
              </a:rPr>
              <a:t>Custo: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8D4C73-6C83-0643-E075-9C6032C9E82C}"/>
              </a:ext>
            </a:extLst>
          </p:cNvPr>
          <p:cNvSpPr>
            <a:spLocks/>
          </p:cNvSpPr>
          <p:nvPr/>
        </p:nvSpPr>
        <p:spPr>
          <a:xfrm>
            <a:off x="1995720" y="951400"/>
            <a:ext cx="288000" cy="288000"/>
          </a:xfrm>
          <a:prstGeom prst="rect">
            <a:avLst/>
          </a:prstGeom>
          <a:ln w="19050" cmpd="sng">
            <a:gradFill flip="none" rotWithShape="1">
              <a:gsLst>
                <a:gs pos="0">
                  <a:srgbClr val="C82027"/>
                </a:gs>
                <a:gs pos="100000">
                  <a:srgbClr val="FCB019"/>
                </a:gs>
              </a:gsLst>
              <a:lin ang="10800000" scaled="1"/>
              <a:tileRect/>
            </a:gra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8000" rIns="48000" rtlCol="0" anchor="ctr"/>
          <a:lstStyle/>
          <a:p>
            <a:pPr algn="ctr"/>
            <a:endParaRPr lang="pt-BR" sz="1400" b="1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353217A-F550-BAE7-BA56-A1B4AB9877B6}"/>
              </a:ext>
            </a:extLst>
          </p:cNvPr>
          <p:cNvSpPr/>
          <p:nvPr/>
        </p:nvSpPr>
        <p:spPr>
          <a:xfrm>
            <a:off x="1154176" y="5580266"/>
            <a:ext cx="2124000" cy="237930"/>
          </a:xfrm>
          <a:prstGeom prst="roundRect">
            <a:avLst>
              <a:gd name="adj" fmla="val 50000"/>
            </a:avLst>
          </a:prstGeom>
          <a:solidFill>
            <a:srgbClr val="FF5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sz="800" b="1">
                <a:solidFill>
                  <a:schemeClr val="bg1"/>
                </a:solidFill>
              </a:rPr>
              <a:t>REDUÇÃO DE ERROS MANUAIS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620FB07-9389-A023-E4D1-3BB7FA6ABC75}"/>
              </a:ext>
            </a:extLst>
          </p:cNvPr>
          <p:cNvSpPr/>
          <p:nvPr/>
        </p:nvSpPr>
        <p:spPr>
          <a:xfrm>
            <a:off x="4610585" y="5580266"/>
            <a:ext cx="2124000" cy="237930"/>
          </a:xfrm>
          <a:prstGeom prst="roundRect">
            <a:avLst>
              <a:gd name="adj" fmla="val 50000"/>
            </a:avLst>
          </a:prstGeom>
          <a:solidFill>
            <a:srgbClr val="FF5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sz="800" b="1">
                <a:solidFill>
                  <a:schemeClr val="bg1"/>
                </a:solidFill>
              </a:rPr>
              <a:t>GANHO DE AGILIDADE NO PROCESSO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D53C5C0-3B3E-1E4E-3865-D47D31A74E66}"/>
              </a:ext>
            </a:extLst>
          </p:cNvPr>
          <p:cNvSpPr/>
          <p:nvPr/>
        </p:nvSpPr>
        <p:spPr>
          <a:xfrm>
            <a:off x="8066994" y="5580266"/>
            <a:ext cx="2124000" cy="237930"/>
          </a:xfrm>
          <a:prstGeom prst="roundRect">
            <a:avLst>
              <a:gd name="adj" fmla="val 50000"/>
            </a:avLst>
          </a:prstGeom>
          <a:solidFill>
            <a:srgbClr val="FF5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</a:rPr>
              <a:t>PADRONIZAÇÃO DO PROCESSO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5363F6-2248-A027-8FE6-1FFB225C6D70}"/>
              </a:ext>
            </a:extLst>
          </p:cNvPr>
          <p:cNvSpPr txBox="1"/>
          <p:nvPr/>
        </p:nvSpPr>
        <p:spPr>
          <a:xfrm>
            <a:off x="530403" y="1738439"/>
            <a:ext cx="107401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0" i="0" dirty="0">
                <a:solidFill>
                  <a:schemeClr val="tx1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Descrição do processo, o que foi refinado e levantado como o cliente </a:t>
            </a:r>
            <a:endParaRPr lang="pt-BR" sz="115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6B72EC-1DA1-A141-E207-711070A1B8BD}"/>
              </a:ext>
            </a:extLst>
          </p:cNvPr>
          <p:cNvSpPr txBox="1"/>
          <p:nvPr/>
        </p:nvSpPr>
        <p:spPr>
          <a:xfrm>
            <a:off x="10039334" y="583491"/>
            <a:ext cx="1010213" cy="27699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1200" dirty="0"/>
              <a:t>XX Semanas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12CEDB-BAAB-C93C-4215-824046AFB02A}"/>
              </a:ext>
            </a:extLst>
          </p:cNvPr>
          <p:cNvSpPr txBox="1"/>
          <p:nvPr/>
        </p:nvSpPr>
        <p:spPr>
          <a:xfrm>
            <a:off x="9980440" y="1035084"/>
            <a:ext cx="1159292" cy="269304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1150" b="1">
                <a:solidFill>
                  <a:srgbClr val="FC5701"/>
                </a:solidFill>
              </a:rPr>
              <a:t>R$ XX.XXX,XX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7C2D34-A564-C348-082D-46C3A9901080}"/>
              </a:ext>
            </a:extLst>
          </p:cNvPr>
          <p:cNvSpPr txBox="1"/>
          <p:nvPr/>
        </p:nvSpPr>
        <p:spPr>
          <a:xfrm>
            <a:off x="4277604" y="3342740"/>
            <a:ext cx="3672000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50" dirty="0"/>
              <a:t>Processo utiliza Excel e e-mail;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50" dirty="0"/>
              <a:t>Processo tem alto impacto para o cliente final;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50" dirty="0"/>
              <a:t>Processo possui interdependência com outros processos executados na empresa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50" dirty="0"/>
              <a:t>O processo não é auditado externamente.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3CAB980-A2F6-A476-5665-C47D4EBDE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2887" y="866663"/>
            <a:ext cx="457200" cy="4572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4FCA0EEB-F97B-E233-F6A3-71E3F6EF3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734" y="868809"/>
            <a:ext cx="457200" cy="4572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615D4860-1FC3-6624-CA13-1BEB740012F5}"/>
              </a:ext>
            </a:extLst>
          </p:cNvPr>
          <p:cNvSpPr>
            <a:spLocks/>
          </p:cNvSpPr>
          <p:nvPr/>
        </p:nvSpPr>
        <p:spPr>
          <a:xfrm>
            <a:off x="3121112" y="958262"/>
            <a:ext cx="288000" cy="288000"/>
          </a:xfrm>
          <a:prstGeom prst="rect">
            <a:avLst/>
          </a:prstGeom>
          <a:ln w="19050" cmpd="sng">
            <a:gradFill flip="none" rotWithShape="1">
              <a:gsLst>
                <a:gs pos="0">
                  <a:srgbClr val="C82027"/>
                </a:gs>
                <a:gs pos="100000">
                  <a:srgbClr val="FCB019"/>
                </a:gs>
              </a:gsLst>
              <a:lin ang="10800000" scaled="1"/>
              <a:tileRect/>
            </a:gra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8000" rIns="48000" rtlCol="0" anchor="ctr"/>
          <a:lstStyle/>
          <a:p>
            <a:pPr algn="ctr"/>
            <a:endParaRPr lang="pt-BR" sz="1400" b="1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D372A9-CAFF-5CB8-8525-3C0EC7BEA4FD}"/>
              </a:ext>
            </a:extLst>
          </p:cNvPr>
          <p:cNvSpPr>
            <a:spLocks/>
          </p:cNvSpPr>
          <p:nvPr/>
        </p:nvSpPr>
        <p:spPr>
          <a:xfrm>
            <a:off x="5267738" y="959186"/>
            <a:ext cx="288000" cy="288000"/>
          </a:xfrm>
          <a:prstGeom prst="rect">
            <a:avLst/>
          </a:prstGeom>
          <a:ln w="19050" cmpd="sng">
            <a:gradFill flip="none" rotWithShape="1">
              <a:gsLst>
                <a:gs pos="0">
                  <a:srgbClr val="C82027"/>
                </a:gs>
                <a:gs pos="100000">
                  <a:srgbClr val="FCB019"/>
                </a:gs>
              </a:gsLst>
              <a:lin ang="10800000" scaled="1"/>
              <a:tileRect/>
            </a:gra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8000" rIns="48000" rtlCol="0" anchor="ctr"/>
          <a:lstStyle/>
          <a:p>
            <a:pPr algn="ctr"/>
            <a:endParaRPr lang="pt-BR" sz="1400" b="1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5F61BE-B9AA-3609-E486-4552326C133E}"/>
              </a:ext>
            </a:extLst>
          </p:cNvPr>
          <p:cNvSpPr>
            <a:spLocks/>
          </p:cNvSpPr>
          <p:nvPr/>
        </p:nvSpPr>
        <p:spPr>
          <a:xfrm>
            <a:off x="5808000" y="947522"/>
            <a:ext cx="288000" cy="288000"/>
          </a:xfrm>
          <a:prstGeom prst="rect">
            <a:avLst/>
          </a:prstGeom>
          <a:ln w="19050" cmpd="sng">
            <a:gradFill flip="none" rotWithShape="1">
              <a:gsLst>
                <a:gs pos="0">
                  <a:srgbClr val="C82027"/>
                </a:gs>
                <a:gs pos="100000">
                  <a:srgbClr val="FCB019"/>
                </a:gs>
              </a:gsLst>
              <a:lin ang="10800000" scaled="1"/>
              <a:tileRect/>
            </a:gra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8000" rIns="48000" rtlCol="0" anchor="ctr"/>
          <a:lstStyle/>
          <a:p>
            <a:pPr algn="ctr"/>
            <a:endParaRPr lang="pt-BR" sz="1400" b="1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2B13C8-F428-1FD4-9EBA-F63D61896845}"/>
              </a:ext>
            </a:extLst>
          </p:cNvPr>
          <p:cNvSpPr>
            <a:spLocks/>
          </p:cNvSpPr>
          <p:nvPr/>
        </p:nvSpPr>
        <p:spPr>
          <a:xfrm>
            <a:off x="6381972" y="945519"/>
            <a:ext cx="288000" cy="288000"/>
          </a:xfrm>
          <a:prstGeom prst="rect">
            <a:avLst/>
          </a:prstGeom>
          <a:ln w="19050" cmpd="sng">
            <a:gradFill flip="none" rotWithShape="1">
              <a:gsLst>
                <a:gs pos="0">
                  <a:srgbClr val="C82027"/>
                </a:gs>
                <a:gs pos="100000">
                  <a:srgbClr val="FCB019"/>
                </a:gs>
              </a:gsLst>
              <a:lin ang="10800000" scaled="1"/>
              <a:tileRect/>
            </a:gra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8000" rIns="48000" rtlCol="0" anchor="ctr"/>
          <a:lstStyle/>
          <a:p>
            <a:pPr algn="ctr"/>
            <a:endParaRPr lang="pt-BR" sz="1400" b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19ED4C1-7CCF-1009-E510-2A3965B80718}"/>
              </a:ext>
            </a:extLst>
          </p:cNvPr>
          <p:cNvSpPr>
            <a:spLocks/>
          </p:cNvSpPr>
          <p:nvPr/>
        </p:nvSpPr>
        <p:spPr>
          <a:xfrm>
            <a:off x="555270" y="954967"/>
            <a:ext cx="288000" cy="288000"/>
          </a:xfrm>
          <a:prstGeom prst="rect">
            <a:avLst/>
          </a:prstGeom>
          <a:ln w="19050" cmpd="sng">
            <a:gradFill flip="none" rotWithShape="1">
              <a:gsLst>
                <a:gs pos="0">
                  <a:srgbClr val="C82027"/>
                </a:gs>
                <a:gs pos="100000">
                  <a:srgbClr val="FCB019"/>
                </a:gs>
              </a:gsLst>
              <a:lin ang="10800000" scaled="1"/>
              <a:tileRect/>
            </a:gra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8000" rIns="48000" rtlCol="0" anchor="ctr"/>
          <a:lstStyle/>
          <a:p>
            <a:pPr algn="ctr"/>
            <a:endParaRPr lang="pt-BR" sz="1400" b="1">
              <a:solidFill>
                <a:schemeClr val="tx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4B1B17B-C536-F087-5833-90E33DDE5D28}"/>
              </a:ext>
            </a:extLst>
          </p:cNvPr>
          <p:cNvCxnSpPr>
            <a:cxnSpLocks/>
          </p:cNvCxnSpPr>
          <p:nvPr/>
        </p:nvCxnSpPr>
        <p:spPr>
          <a:xfrm>
            <a:off x="4367727" y="3158183"/>
            <a:ext cx="3600000" cy="0"/>
          </a:xfrm>
          <a:prstGeom prst="line">
            <a:avLst/>
          </a:prstGeom>
          <a:ln w="57150" cmpd="sng">
            <a:gradFill flip="none" rotWithShape="1">
              <a:gsLst>
                <a:gs pos="0">
                  <a:srgbClr val="FCB019"/>
                </a:gs>
                <a:gs pos="100000">
                  <a:srgbClr val="C82027"/>
                </a:gs>
              </a:gsLst>
              <a:lin ang="10800000" scaled="1"/>
              <a:tileRect/>
            </a:gra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1B3DD38-555F-5E5A-8E19-D35CC7523837}"/>
              </a:ext>
            </a:extLst>
          </p:cNvPr>
          <p:cNvSpPr/>
          <p:nvPr/>
        </p:nvSpPr>
        <p:spPr>
          <a:xfrm>
            <a:off x="4934902" y="951400"/>
            <a:ext cx="36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ctr"/>
          <a:lstStyle/>
          <a:p>
            <a:pPr algn="ctr"/>
            <a:r>
              <a:rPr lang="pt-BR" sz="1200">
                <a:solidFill>
                  <a:schemeClr val="tx1"/>
                </a:solidFill>
              </a:rPr>
              <a:t>PP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3341A4-EB2C-2BF9-72B0-DA44843B1183}"/>
              </a:ext>
            </a:extLst>
          </p:cNvPr>
          <p:cNvSpPr>
            <a:spLocks/>
          </p:cNvSpPr>
          <p:nvPr/>
        </p:nvSpPr>
        <p:spPr>
          <a:xfrm>
            <a:off x="4670838" y="959186"/>
            <a:ext cx="288000" cy="288000"/>
          </a:xfrm>
          <a:prstGeom prst="rect">
            <a:avLst/>
          </a:prstGeom>
          <a:ln w="19050" cmpd="sng">
            <a:gradFill flip="none" rotWithShape="1">
              <a:gsLst>
                <a:gs pos="0">
                  <a:srgbClr val="C82027"/>
                </a:gs>
                <a:gs pos="100000">
                  <a:srgbClr val="FCB019"/>
                </a:gs>
              </a:gsLst>
              <a:lin ang="10800000" scaled="1"/>
              <a:tileRect/>
            </a:gra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8000" rIns="48000" rtlCol="0" anchor="ctr"/>
          <a:lstStyle/>
          <a:p>
            <a:pPr algn="ctr"/>
            <a:endParaRPr lang="pt-BR" sz="1400" b="1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B182ED-91C1-73A2-1638-23BFF5A3FE63}"/>
              </a:ext>
            </a:extLst>
          </p:cNvPr>
          <p:cNvSpPr txBox="1"/>
          <p:nvPr/>
        </p:nvSpPr>
        <p:spPr>
          <a:xfrm>
            <a:off x="6843976" y="689513"/>
            <a:ext cx="2296564" cy="101566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ctr"/>
            <a:r>
              <a:rPr lang="en-US" sz="2000" b="1" dirty="0">
                <a:solidFill>
                  <a:srgbClr val="FC5701"/>
                </a:solidFill>
              </a:rPr>
              <a:t>Horas </a:t>
            </a:r>
          </a:p>
          <a:p>
            <a:pPr algn="ctr"/>
            <a:r>
              <a:rPr lang="en-US" sz="2000" b="1" dirty="0">
                <a:solidFill>
                  <a:srgbClr val="FC5701"/>
                </a:solidFill>
              </a:rPr>
              <a:t>~859</a:t>
            </a:r>
          </a:p>
          <a:p>
            <a:endParaRPr lang="en-US" sz="2000" b="1" dirty="0">
              <a:solidFill>
                <a:srgbClr val="FC5701"/>
              </a:solidFill>
            </a:endParaRPr>
          </a:p>
          <a:p>
            <a:pPr algn="ctr"/>
            <a:r>
              <a:rPr lang="en-US" sz="2000" b="1" dirty="0">
                <a:solidFill>
                  <a:srgbClr val="FC5701"/>
                </a:solidFill>
              </a:rPr>
              <a:t>   R$</a:t>
            </a:r>
          </a:p>
          <a:p>
            <a:pPr algn="ctr"/>
            <a:r>
              <a:rPr lang="en-US" sz="2000" b="1" dirty="0">
                <a:solidFill>
                  <a:srgbClr val="FC5701"/>
                </a:solidFill>
              </a:rPr>
              <a:t> ~XXK</a:t>
            </a:r>
            <a:br>
              <a:rPr lang="en-US" sz="2000" b="1" dirty="0">
                <a:solidFill>
                  <a:srgbClr val="FC5701"/>
                </a:solidFill>
              </a:rPr>
            </a:br>
            <a:endParaRPr lang="en-US" sz="2000" b="1" dirty="0">
              <a:solidFill>
                <a:srgbClr val="FC570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121CB9-53A1-6CDA-0AB1-750E0304355C}"/>
              </a:ext>
            </a:extLst>
          </p:cNvPr>
          <p:cNvSpPr txBox="1"/>
          <p:nvPr/>
        </p:nvSpPr>
        <p:spPr>
          <a:xfrm>
            <a:off x="455452" y="3335909"/>
            <a:ext cx="3672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50" dirty="0"/>
              <a:t>Tecnologia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50" dirty="0"/>
              <a:t>Tecnologia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50" dirty="0"/>
              <a:t>Tecnologia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15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6E14BB6-C487-B425-7624-62FF2ECA91F5}"/>
              </a:ext>
            </a:extLst>
          </p:cNvPr>
          <p:cNvSpPr/>
          <p:nvPr/>
        </p:nvSpPr>
        <p:spPr>
          <a:xfrm>
            <a:off x="8120845" y="2841291"/>
            <a:ext cx="2251466" cy="3651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spcCol="180000" rtlCol="0" anchor="t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Riscos mapeados:</a:t>
            </a:r>
            <a:endParaRPr lang="pt-BR" sz="800" b="1">
              <a:solidFill>
                <a:schemeClr val="tx1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D35EB1A-B077-C43C-BC04-347070E82BE0}"/>
              </a:ext>
            </a:extLst>
          </p:cNvPr>
          <p:cNvCxnSpPr>
            <a:cxnSpLocks/>
          </p:cNvCxnSpPr>
          <p:nvPr/>
        </p:nvCxnSpPr>
        <p:spPr>
          <a:xfrm>
            <a:off x="8185019" y="3157766"/>
            <a:ext cx="3308781" cy="104"/>
          </a:xfrm>
          <a:prstGeom prst="line">
            <a:avLst/>
          </a:prstGeom>
          <a:ln w="57150" cmpd="sng">
            <a:gradFill flip="none" rotWithShape="1">
              <a:gsLst>
                <a:gs pos="0">
                  <a:srgbClr val="FCB019"/>
                </a:gs>
                <a:gs pos="100000">
                  <a:srgbClr val="C82027"/>
                </a:gs>
              </a:gsLst>
              <a:lin ang="10800000" scaled="1"/>
              <a:tileRect/>
            </a:gra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288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1AF0F02-2441-EED6-9450-676534286B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7415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3DF371D-7DA5-7008-A327-86FF6DE14C89}"/>
              </a:ext>
            </a:extLst>
          </p:cNvPr>
          <p:cNvSpPr/>
          <p:nvPr/>
        </p:nvSpPr>
        <p:spPr>
          <a:xfrm>
            <a:off x="1229549" y="115183"/>
            <a:ext cx="6297622" cy="3547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pt-BR" sz="16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Curva de ROI Estimado  – Grupo X</a:t>
            </a:r>
          </a:p>
        </p:txBody>
      </p:sp>
    </p:spTree>
    <p:extLst>
      <p:ext uri="{BB962C8B-B14F-4D97-AF65-F5344CB8AC3E}">
        <p14:creationId xmlns:p14="http://schemas.microsoft.com/office/powerpoint/2010/main" val="510785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84E0BF2C465443A17DB6C101B012CE" ma:contentTypeVersion="0" ma:contentTypeDescription="Create a new document." ma:contentTypeScope="" ma:versionID="6035ec61224d3ef0a0750a5c995dfef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8F8EF6-9E2F-4E8E-8ED9-22B14CAF0EA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9F8C64C-015D-4D57-BAEC-E58D5E55D5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DF2346-6F06-4F9A-BF45-2E85058322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aeece3c5-2e6a-4bcf-acf2-6ee49669618d}" enabled="1" method="Privilege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132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Office Theme</vt:lpstr>
      <vt:lpstr>Apresentação do PowerPoint</vt:lpstr>
      <vt:lpstr>Apresentação do PowerPoint</vt:lpstr>
    </vt:vector>
  </TitlesOfParts>
  <Company>Avanade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Emerson Da Silva Ferreira</dc:creator>
  <cp:lastModifiedBy>Jonas Emerson Da Silva Ferreira</cp:lastModifiedBy>
  <cp:revision>5</cp:revision>
  <dcterms:created xsi:type="dcterms:W3CDTF">2025-08-28T00:27:38Z</dcterms:created>
  <dcterms:modified xsi:type="dcterms:W3CDTF">2025-09-18T11:12:55Z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0x0101007384E0BF2C465443A17DB6C101B012CE</vt:lpwstr>
  </property>
</Properties>
</file>